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3" d="100"/>
          <a:sy n="83" d="100"/>
        </p:scale>
        <p:origin x="7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12E3C8-4D32-40AE-9B55-981117638739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95764E-835F-4A27-9679-E9332CD281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7080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95764E-835F-4A27-9679-E9332CD281B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171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95764E-835F-4A27-9679-E9332CD281B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134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FB77F-31EC-4DFD-A4B6-8776B633AD9B}" type="datetime1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Baderia Global Institute of Engineering and Management, Jabalpur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E2A1-E1B3-408C-BD2E-03FB3FB56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8990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B6C67-DA86-4F31-98A7-2F728C584718}" type="datetime1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Baderia Global Institute of Engineering and Management, Jabalpur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E2A1-E1B3-408C-BD2E-03FB3FB56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89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FD08E-FC46-449E-8BA5-BE4C09629E03}" type="datetime1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Baderia Global Institute of Engineering and Management, Jabalpur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E2A1-E1B3-408C-BD2E-03FB3FB56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425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946E1-E39A-43D1-816C-4E74F406503D}" type="datetime1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Baderia Global Institute of Engineering and Management, Jabalpur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E2A1-E1B3-408C-BD2E-03FB3FB56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721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1488D-2C6E-4E5F-978E-C025B7F1ACF5}" type="datetime1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Baderia Global Institute of Engineering and Management, Jabalpur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E2A1-E1B3-408C-BD2E-03FB3FB56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179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9073-349C-4A96-8360-CFF1798373DE}" type="datetime1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Baderia Global Institute of Engineering and Management, Jabalpur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E2A1-E1B3-408C-BD2E-03FB3FB56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253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D5D8B-7406-4E3A-8E46-919BC0297F24}" type="datetime1">
              <a:rPr lang="en-IN" smtClean="0"/>
              <a:t>19-11-2025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Baderia Global Institute of Engineering and Management, Jabalpur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E2A1-E1B3-408C-BD2E-03FB3FB56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3811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AAB29-BDE6-4B2C-A8C9-6312498192A2}" type="datetime1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Baderia Global Institute of Engineering and Management, Jabalpur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E2A1-E1B3-408C-BD2E-03FB3FB56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7063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B4E0C-F230-4CAE-9C54-5B9B674CF88E}" type="datetime1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Baderia Global Institute of Engineering and Management, Jabalpur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E2A1-E1B3-408C-BD2E-03FB3FB56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4753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3872E-FC16-4D13-B349-7DF8BD1A29AE}" type="datetime1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Baderia Global Institute of Engineering and Management, Jabalpur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E2A1-E1B3-408C-BD2E-03FB3FB56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0327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407E0-36F7-4FCD-ACC2-10906C9C70C4}" type="datetime1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Baderia Global Institute of Engineering and Management, Jabalpur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E2A1-E1B3-408C-BD2E-03FB3FB56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230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BC3E30-D5D4-4543-B919-820BC78B7767}" type="datetime1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Baderia Global Institute of Engineering and Management, Jabalpur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3FE2A1-E1B3-408C-BD2E-03FB3FB56D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6965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6776" y="374573"/>
            <a:ext cx="111711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BADERIA GLOBAL INSTITUTE OF ENGINEERING  &amp; MANAGEMENT, JABALPUR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1155" y="3475711"/>
            <a:ext cx="851603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Course Code: </a:t>
            </a:r>
            <a:r>
              <a:rPr lang="en-IN" sz="2000" dirty="0"/>
              <a:t>CS508</a:t>
            </a:r>
            <a:r>
              <a:rPr lang="en-IN" sz="2000" b="1" dirty="0"/>
              <a:t>			Course Name: </a:t>
            </a:r>
            <a:r>
              <a:rPr lang="en-IN" sz="2000" dirty="0"/>
              <a:t>Minor Project - I</a:t>
            </a:r>
          </a:p>
          <a:p>
            <a:pPr algn="ctr"/>
            <a:r>
              <a:rPr lang="en-IN" sz="2000" b="1" dirty="0"/>
              <a:t>Presentation on</a:t>
            </a:r>
          </a:p>
          <a:p>
            <a:pPr algn="ctr"/>
            <a:r>
              <a:rPr lang="en-IN" sz="2400" b="1" dirty="0">
                <a:solidFill>
                  <a:schemeClr val="tx2"/>
                </a:solidFill>
              </a:rPr>
              <a:t>&lt;TITLE OF PROJECT&gt;</a:t>
            </a:r>
            <a:endParaRPr lang="en-IN" sz="2400" dirty="0">
              <a:solidFill>
                <a:schemeClr val="tx2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90648" y="4767782"/>
            <a:ext cx="48033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ENROLLMENT NUMBER &amp; NAME OF MEMBERS:</a:t>
            </a:r>
          </a:p>
          <a:p>
            <a:pPr algn="ctr"/>
            <a:r>
              <a:rPr lang="en-IN" dirty="0"/>
              <a:t>0225CS211001 – ABC XYZ (LEADER)</a:t>
            </a:r>
          </a:p>
          <a:p>
            <a:pPr algn="ctr"/>
            <a:r>
              <a:rPr lang="en-IN" dirty="0"/>
              <a:t>0225CS211034 – DFG GFHJ (MEMBER 1)</a:t>
            </a:r>
          </a:p>
          <a:p>
            <a:pPr algn="ctr"/>
            <a:r>
              <a:rPr lang="en-IN" dirty="0"/>
              <a:t>0225CS211105 – UIYI VBM (MEMBER 2)</a:t>
            </a:r>
            <a:endParaRPr lang="en-IN" b="1" dirty="0"/>
          </a:p>
          <a:p>
            <a:pPr algn="ctr"/>
            <a:endParaRPr lang="en-IN" b="1" dirty="0"/>
          </a:p>
        </p:txBody>
      </p:sp>
      <p:pic>
        <p:nvPicPr>
          <p:cNvPr id="1026" name="Picture 2" descr="Global Group of Institu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2977" y="1388353"/>
            <a:ext cx="1232397" cy="1232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319049" y="2694288"/>
            <a:ext cx="75465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Semester: V</a:t>
            </a:r>
          </a:p>
          <a:p>
            <a:pPr algn="ctr"/>
            <a:r>
              <a:rPr lang="en-IN" sz="2000" b="1" dirty="0"/>
              <a:t>Branch: </a:t>
            </a:r>
            <a:r>
              <a:rPr lang="en-IN" sz="2000" dirty="0"/>
              <a:t>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2097946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Table of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Problem Statement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Literature Survey / Existing Systems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Project Objectives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Proposed Solution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6"/>
            </a:pPr>
            <a:r>
              <a:rPr lang="en-IN" dirty="0"/>
              <a:t>Technology Stack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IN" dirty="0"/>
              <a:t>Feasibility Study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en-IN" dirty="0"/>
              <a:t>Tentative Timeline (Gantt Chart)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en-IN" dirty="0"/>
              <a:t>Expected Outcomes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en-IN" dirty="0"/>
              <a:t>References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28471" y="6356350"/>
            <a:ext cx="5535058" cy="365125"/>
          </a:xfrm>
        </p:spPr>
        <p:txBody>
          <a:bodyPr/>
          <a:lstStyle/>
          <a:p>
            <a:r>
              <a:rPr lang="en-US" dirty="0"/>
              <a:t>Baderia Global Institute of Engineering and Management, Jabalpur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E2A1-E1B3-408C-BD2E-03FB3FB56DDC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811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F3EE7FF-C0D9-4EA7-611C-E18CB6A9F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Problem Statement</a:t>
            </a: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ED60B2-7FB5-3A3E-CE41-824715F8B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Describe the real-world problem you are trying to solve?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15E7-D0CB-D516-9D03-575C5056C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Baderia Global Institute of Engineering and Management, Jabalpur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6F271-6BF9-8531-B176-1C135044C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E2A1-E1B3-408C-BD2E-03FB3FB56DDC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2768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051D0-EF22-7D60-F2BD-EEA7B511C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Literature Survey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9791C-2E4F-E3E3-6AC0-CA5F9D95B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Current Solutions:</a:t>
            </a:r>
            <a:r>
              <a:rPr lang="en-US" dirty="0"/>
              <a:t> What currently exists to solve this? (Competitors or existing research).</a:t>
            </a:r>
          </a:p>
          <a:p>
            <a:r>
              <a:rPr lang="en-US" b="1" dirty="0"/>
              <a:t>The Gap:</a:t>
            </a:r>
            <a:r>
              <a:rPr lang="en-US" dirty="0"/>
              <a:t> Why are existing solutions not enough? (Are they too expensive? Too slow? Inaccurate? Hard to use?).</a:t>
            </a:r>
          </a:p>
          <a:p>
            <a:r>
              <a:rPr lang="en-US" b="1" dirty="0"/>
              <a:t>Your Edge:</a:t>
            </a:r>
            <a:r>
              <a:rPr lang="en-US" dirty="0"/>
              <a:t> How is your project different? (Better algorithm, cheaper, better UI, local language support, etc.).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DE3BAB-0B3F-4FB6-3836-916BB7AED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Baderia Global Institute of Engineering and Management, Jabalpur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9D9483-4AE8-6C88-9591-7E09588CC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E2A1-E1B3-408C-BD2E-03FB3FB56DDC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970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97328-3083-03D1-B83E-4B6FD314A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Project 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AEDD4-2AC8-9522-D3A2-E35908ADA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Primary Goal:</a:t>
            </a:r>
            <a:r>
              <a:rPr lang="en-US" dirty="0"/>
              <a:t> One sentence defining the main aim.</a:t>
            </a:r>
          </a:p>
          <a:p>
            <a:r>
              <a:rPr lang="en-US" b="1" dirty="0"/>
              <a:t>Specific Objectives:</a:t>
            </a:r>
            <a:r>
              <a:rPr lang="en-US" dirty="0"/>
              <a:t> Bullet points of features you </a:t>
            </a:r>
            <a:r>
              <a:rPr lang="en-US" i="1" dirty="0"/>
              <a:t>guarantee</a:t>
            </a:r>
            <a:r>
              <a:rPr lang="en-US" dirty="0"/>
              <a:t> to deliver.</a:t>
            </a:r>
          </a:p>
          <a:p>
            <a:r>
              <a:rPr lang="en-US" b="1" dirty="0"/>
              <a:t>Scope Boundary:</a:t>
            </a:r>
            <a:r>
              <a:rPr lang="en-US" dirty="0"/>
              <a:t> Explicitly state what you are </a:t>
            </a:r>
            <a:r>
              <a:rPr lang="en-US" b="1" dirty="0"/>
              <a:t>NOT</a:t>
            </a:r>
            <a:r>
              <a:rPr lang="en-US" dirty="0"/>
              <a:t> doing (e.g., "We are focusing only on Android, not iOS"). </a:t>
            </a:r>
            <a:r>
              <a:rPr lang="en-US" i="1" dirty="0"/>
              <a:t>This protects you from scope creep later.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521434-2ABE-2552-4FC3-6443FA56A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Baderia Global Institute of Engineering and Management, Jabalpur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C41382-055D-327A-9505-72E74178B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E2A1-E1B3-408C-BD2E-03FB3FB56DD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408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60585-150F-D30C-B1D5-52401C9D5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Proposed Solution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0155F-AC27-ABD0-7B2A-E25BABB34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Block Diagram:</a:t>
            </a:r>
            <a:r>
              <a:rPr lang="en-US" dirty="0"/>
              <a:t> A high-level diagram showing how the system works.</a:t>
            </a:r>
          </a:p>
          <a:p>
            <a:pPr lvl="1"/>
            <a:r>
              <a:rPr lang="en-US" i="1" dirty="0"/>
              <a:t>Example:</a:t>
            </a:r>
            <a:r>
              <a:rPr lang="en-US" dirty="0"/>
              <a:t> User Input -&gt; Frontend -&gt; API -&gt; Database -&gt; ML Model -&gt; Response.</a:t>
            </a:r>
          </a:p>
          <a:p>
            <a:r>
              <a:rPr lang="en-US" b="1" dirty="0"/>
              <a:t>Flowchart:</a:t>
            </a:r>
            <a:r>
              <a:rPr lang="en-US" dirty="0"/>
              <a:t> Basic flow of data.</a:t>
            </a:r>
          </a:p>
          <a:p>
            <a:r>
              <a:rPr lang="en-US" i="1" dirty="0"/>
              <a:t>Note: Since you haven't coded it yet, this is a conceptual design.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C20A0-212B-7731-BBF0-E39F9571A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Baderia Global Institute of Engineering and Management, Jabalpur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20993B-0CBF-D039-9FC7-5160DDEAB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E2A1-E1B3-408C-BD2E-03FB3FB56DD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749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92F49-D554-FAE4-EF9B-2DBF82FE8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Technology Stack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86448-D25E-CAB3-8A34-BACCB43CA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Frontend:</a:t>
            </a:r>
            <a:r>
              <a:rPr lang="en-IN" dirty="0"/>
              <a:t> (e.g., React, Flutter, HTML/CSS).</a:t>
            </a:r>
          </a:p>
          <a:p>
            <a:r>
              <a:rPr lang="en-IN" b="1" dirty="0"/>
              <a:t>Backend:</a:t>
            </a:r>
            <a:r>
              <a:rPr lang="en-IN" dirty="0"/>
              <a:t> (e.g., Node.js, Django, Spring Boot).</a:t>
            </a:r>
          </a:p>
          <a:p>
            <a:r>
              <a:rPr lang="en-IN" b="1" dirty="0"/>
              <a:t>Database:</a:t>
            </a:r>
            <a:r>
              <a:rPr lang="en-IN" dirty="0"/>
              <a:t> (e.g., MongoDB, MySQL, Firebase).</a:t>
            </a:r>
          </a:p>
          <a:p>
            <a:r>
              <a:rPr lang="en-IN" b="1" dirty="0"/>
              <a:t>Algorithms/Libraries:</a:t>
            </a:r>
            <a:r>
              <a:rPr lang="en-IN" dirty="0"/>
              <a:t> (e.g., CNN for Image Processing, Scikit-Learn).</a:t>
            </a:r>
          </a:p>
          <a:p>
            <a:r>
              <a:rPr lang="en-IN" b="1" dirty="0"/>
              <a:t>Hardware (if IoT):</a:t>
            </a:r>
            <a:r>
              <a:rPr lang="en-IN" dirty="0"/>
              <a:t> Sensors, Microcontrollers (Arduino/Raspberry Pi).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AE65A3-49C1-3A3E-5191-D6ADE2D0D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Baderia Global Institute of Engineering and Management, Jabalpur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5D5AEB-942E-1AC8-CCC8-EF25C74EE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E2A1-E1B3-408C-BD2E-03FB3FB56DD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595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6CE63-CB17-6A4D-DF3A-6C8F0A831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Feasibility Study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29E9C-6B36-4E81-9128-075C3FACD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Technical Feasibility:</a:t>
            </a:r>
            <a:r>
              <a:rPr lang="en-US" dirty="0"/>
              <a:t> Do you and your team have the skills to be used in this project.</a:t>
            </a:r>
          </a:p>
          <a:p>
            <a:r>
              <a:rPr lang="en-US" b="1" dirty="0"/>
              <a:t>Resource Feasibility:</a:t>
            </a:r>
            <a:r>
              <a:rPr lang="en-US" dirty="0"/>
              <a:t> Do you need a high-end GPU? Paid APIs? Cloud credits? How will you acquire them?</a:t>
            </a:r>
          </a:p>
          <a:p>
            <a:r>
              <a:rPr lang="en-US" b="1" dirty="0"/>
              <a:t>Data Availability:</a:t>
            </a:r>
            <a:r>
              <a:rPr lang="en-US" dirty="0"/>
              <a:t> (For ML projects) Where will you get the dataset? (Kaggle, Government API, Scraped data).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0AA517-0CDD-563A-BD73-AAE216ADB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Baderia Global Institute of Engineering and Management, Jabalpur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3257C3-45A1-2E7B-DCD7-C449DF58F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E2A1-E1B3-408C-BD2E-03FB3FB56DD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036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B312D-1D5D-4CC9-60C0-94B524C01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Tentative Timeline (Gantt Chart)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1E66F-88F2-CC98-DEEA-4BF888F3F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Break down the next semester into phases:</a:t>
            </a:r>
          </a:p>
          <a:p>
            <a:pPr lvl="1"/>
            <a:r>
              <a:rPr lang="en-US" dirty="0"/>
              <a:t>Month 1: Learning Tech Stack &amp; UI Design.</a:t>
            </a:r>
          </a:p>
          <a:p>
            <a:pPr lvl="1"/>
            <a:r>
              <a:rPr lang="en-US" dirty="0"/>
              <a:t>Month 2: Backend Development / DB Setup.</a:t>
            </a:r>
          </a:p>
          <a:p>
            <a:pPr lvl="1"/>
            <a:r>
              <a:rPr lang="en-US" dirty="0"/>
              <a:t>Month 3: Core Logic/Algorithm Implementation.</a:t>
            </a:r>
          </a:p>
          <a:p>
            <a:pPr lvl="1"/>
            <a:r>
              <a:rPr lang="en-US" dirty="0"/>
              <a:t>Month 4: Testing &amp; Final Documentation.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7EE6C0-F341-E009-E221-1AB420065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Baderia Global Institute of Engineering and Management, Jabalpur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857F11-CD26-D3A8-8CD1-39CE7CCD2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E2A1-E1B3-408C-BD2E-03FB3FB56DDC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285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E9352-8AE9-5184-03ED-40F993391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Expected Outcomes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864FF-EC87-CD88-52F9-A4386C110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will the final deliverable look like? (A mobile app, a website, a hardware prototype, a research paper?).</a:t>
            </a:r>
          </a:p>
          <a:p>
            <a:r>
              <a:rPr lang="en-US" dirty="0"/>
              <a:t>Who are the beneficiaries?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30BCA5-DB22-3D9C-C647-88C6B872F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Baderia Global Institute of Engineering and Management, Jabalpur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425EC6-49E6-7344-E61E-45623E002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E2A1-E1B3-408C-BD2E-03FB3FB56DDC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522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D8FA-E406-78A2-64F6-56BF8414A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References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B96C7-4B18-B74C-3CE8-6653FD884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Mention 2-3 IEEE papers, articles, or major repositories you studied to form this idea in IEEE format, for example</a:t>
            </a:r>
          </a:p>
          <a:p>
            <a:pPr marL="531813" indent="-439738">
              <a:buFont typeface="Wingdings" panose="05000000000000000000" pitchFamily="2" charset="2"/>
              <a:buChar char="q"/>
              <a:tabLst>
                <a:tab pos="450850" algn="l"/>
              </a:tabLst>
            </a:pPr>
            <a:r>
              <a:rPr lang="en-US" sz="2400" dirty="0"/>
              <a:t>P. K. Weimer, "The TFT A New Thin-Film Transistor," in Proceedings of the IRE, vol. 50, no. 6, pp. 1462-1469, June 1962, </a:t>
            </a:r>
            <a:r>
              <a:rPr lang="en-US" sz="2400" dirty="0" err="1"/>
              <a:t>doi</a:t>
            </a:r>
            <a:r>
              <a:rPr lang="en-US" sz="2400" dirty="0"/>
              <a:t>: 10.1109/JRPROC.1962.288190. </a:t>
            </a:r>
          </a:p>
          <a:p>
            <a:pPr marL="531813" indent="-439738">
              <a:buFont typeface="Wingdings" panose="05000000000000000000" pitchFamily="2" charset="2"/>
              <a:buChar char="q"/>
              <a:tabLst>
                <a:tab pos="450850" algn="l"/>
              </a:tabLst>
            </a:pPr>
            <a:r>
              <a:rPr lang="en-US" sz="2400" dirty="0"/>
              <a:t>M. Minsky, "Steps toward Artificial Intelligence," in Proceedings of the IRE, vol. 49, no. 1, pp. 8-30, Jan. 1961, </a:t>
            </a:r>
            <a:r>
              <a:rPr lang="en-US" sz="2400" dirty="0" err="1"/>
              <a:t>doi</a:t>
            </a:r>
            <a:r>
              <a:rPr lang="en-US" sz="2400" dirty="0"/>
              <a:t>: 10.1109/JRPROC.1961.287775</a:t>
            </a:r>
          </a:p>
          <a:p>
            <a:pPr marL="531813" indent="-439738">
              <a:buFont typeface="Wingdings" panose="05000000000000000000" pitchFamily="2" charset="2"/>
              <a:buChar char="q"/>
              <a:tabLst>
                <a:tab pos="450850" algn="l"/>
              </a:tabLst>
            </a:pPr>
            <a:r>
              <a:rPr lang="en-US" sz="2400" dirty="0"/>
              <a:t>Baotian He, Yibing Li, "MRIC: Model-Based Reinforcement-Imitation Learning With Mixture-of-Codebooks for Autonomous Driving Simulation", IEEE Transactions on Intelligent Transportation Systems, vol.26, no.11, pp.19791-19809, 2025.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9E85EF-4B6F-0525-54F7-73E6D6783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Baderia Global Institute of Engineering and Management, Jabalpur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FCB4BB-DAE0-FB40-3729-45EADD2C0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FE2A1-E1B3-408C-BD2E-03FB3FB56DDC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046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756</Words>
  <Application>Microsoft Office PowerPoint</Application>
  <PresentationFormat>Widescreen</PresentationFormat>
  <Paragraphs>82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Office Theme</vt:lpstr>
      <vt:lpstr>PowerPoint Presentation</vt:lpstr>
      <vt:lpstr>Table of Content</vt:lpstr>
      <vt:lpstr>Problem Statement</vt:lpstr>
      <vt:lpstr>Literature Survey</vt:lpstr>
      <vt:lpstr>Project Objectives</vt:lpstr>
      <vt:lpstr>Proposed Solution</vt:lpstr>
      <vt:lpstr>Technology Stack</vt:lpstr>
      <vt:lpstr>Feasibility Study</vt:lpstr>
      <vt:lpstr>Tentative Timeline (Gantt Chart)</vt:lpstr>
      <vt:lpstr>Expected Outcomes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Zohaib Hasan</cp:lastModifiedBy>
  <cp:revision>21</cp:revision>
  <dcterms:created xsi:type="dcterms:W3CDTF">2024-05-20T11:16:48Z</dcterms:created>
  <dcterms:modified xsi:type="dcterms:W3CDTF">2025-11-19T08:48:34Z</dcterms:modified>
</cp:coreProperties>
</file>